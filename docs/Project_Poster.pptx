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Comic Sans MS" panose="030F0702030302020204" pitchFamily="66" charset="0"/>
      <p:regular r:id="rId8"/>
      <p:bold r:id="rId9"/>
      <p:italic r:id="rId10"/>
      <p:boldItalic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Playfair Display" panose="00000500000000000000" pitchFamily="2" charset="0"/>
      <p:regular r:id="rId16"/>
      <p:bold r:id="rId17"/>
      <p:italic r:id="rId18"/>
      <p:boldItalic r:id="rId19"/>
    </p:embeddedFont>
    <p:embeddedFont>
      <p:font typeface="Tahoma" panose="020B0604030504040204" pitchFamily="34" charset="0"/>
      <p:regular r:id="rId20"/>
      <p:bold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66" d="100"/>
          <a:sy n="66" d="100"/>
        </p:scale>
        <p:origin x="691" y="-120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murthy YC" userId="bf6a1185fec05998" providerId="LiveId" clId="{AED80743-3B51-4EE3-8F58-7A29A231DBBF}"/>
    <pc:docChg chg="undo custSel modSld">
      <pc:chgData name="Keshavamurthy YC" userId="bf6a1185fec05998" providerId="LiveId" clId="{AED80743-3B51-4EE3-8F58-7A29A231DBBF}" dt="2025-01-03T10:15:28.552" v="58"/>
      <pc:docMkLst>
        <pc:docMk/>
      </pc:docMkLst>
      <pc:sldChg chg="addSp delSp modSp mod">
        <pc:chgData name="Keshavamurthy YC" userId="bf6a1185fec05998" providerId="LiveId" clId="{AED80743-3B51-4EE3-8F58-7A29A231DBBF}" dt="2025-01-03T10:15:28.552" v="58"/>
        <pc:sldMkLst>
          <pc:docMk/>
          <pc:sldMk cId="0" sldId="256"/>
        </pc:sldMkLst>
        <pc:spChg chg="add mod">
          <ac:chgData name="Keshavamurthy YC" userId="bf6a1185fec05998" providerId="LiveId" clId="{AED80743-3B51-4EE3-8F58-7A29A231DBBF}" dt="2025-01-03T10:15:28.552" v="58"/>
          <ac:spMkLst>
            <pc:docMk/>
            <pc:sldMk cId="0" sldId="256"/>
            <ac:spMk id="9" creationId="{2F547D69-D0D0-C594-CD7F-F9B90CF1C02A}"/>
          </ac:spMkLst>
        </pc:spChg>
        <pc:spChg chg="del mod">
          <ac:chgData name="Keshavamurthy YC" userId="bf6a1185fec05998" providerId="LiveId" clId="{AED80743-3B51-4EE3-8F58-7A29A231DBBF}" dt="2025-01-03T10:14:11.877" v="3" actId="478"/>
          <ac:spMkLst>
            <pc:docMk/>
            <pc:sldMk cId="0" sldId="256"/>
            <ac:spMk id="10" creationId="{F5BD3962-3D08-292D-5F38-37E5A5B1CC5C}"/>
          </ac:spMkLst>
        </pc:spChg>
        <pc:spChg chg="mod">
          <ac:chgData name="Keshavamurthy YC" userId="bf6a1185fec05998" providerId="LiveId" clId="{AED80743-3B51-4EE3-8F58-7A29A231DBBF}" dt="2025-01-03T10:14:04.011" v="0" actId="1076"/>
          <ac:spMkLst>
            <pc:docMk/>
            <pc:sldMk cId="0" sldId="256"/>
            <ac:spMk id="13" creationId="{4D62BE2B-B35B-D625-2122-05FD6EFD4E3C}"/>
          </ac:spMkLst>
        </pc:spChg>
        <pc:spChg chg="mod">
          <ac:chgData name="Keshavamurthy YC" userId="bf6a1185fec05998" providerId="LiveId" clId="{AED80743-3B51-4EE3-8F58-7A29A231DBBF}" dt="2025-01-03T10:14:18.296" v="4" actId="1076"/>
          <ac:spMkLst>
            <pc:docMk/>
            <pc:sldMk cId="0" sldId="256"/>
            <ac:spMk id="174" creationId="{00000000-0000-0000-0000-000000000000}"/>
          </ac:spMkLst>
        </pc:spChg>
      </pc:sldChg>
    </pc:docChg>
  </pc:docChgLst>
  <pc:docChgLst>
    <pc:chgData name="Keshavamurthy YC" userId="bf6a1185fec05998" providerId="LiveId" clId="{DFF3F985-E1C4-4C93-9341-E6091D18B275}"/>
    <pc:docChg chg="undo custSel modSld">
      <pc:chgData name="Keshavamurthy YC" userId="bf6a1185fec05998" providerId="LiveId" clId="{DFF3F985-E1C4-4C93-9341-E6091D18B275}" dt="2024-07-03T07:33:03.824" v="78" actId="20577"/>
      <pc:docMkLst>
        <pc:docMk/>
      </pc:docMkLst>
      <pc:sldChg chg="modSp mod">
        <pc:chgData name="Keshavamurthy YC" userId="bf6a1185fec05998" providerId="LiveId" clId="{DFF3F985-E1C4-4C93-9341-E6091D18B275}" dt="2024-07-03T07:33:03.824" v="78" actId="20577"/>
        <pc:sldMkLst>
          <pc:docMk/>
          <pc:sldMk cId="0" sldId="256"/>
        </pc:sldMkLst>
      </pc:sldChg>
    </pc:docChg>
  </pc:docChgLst>
  <pc:docChgLst>
    <pc:chgData name="Keshavamurthy YC" userId="bf6a1185fec05998" providerId="LiveId" clId="{8355D0B3-71DD-40A6-96C8-8B12F51E2007}"/>
    <pc:docChg chg="undo custSel modSld">
      <pc:chgData name="Keshavamurthy YC" userId="bf6a1185fec05998" providerId="LiveId" clId="{8355D0B3-71DD-40A6-96C8-8B12F51E2007}" dt="2024-04-04T09:32:51.772" v="163" actId="14100"/>
      <pc:docMkLst>
        <pc:docMk/>
      </pc:docMkLst>
      <pc:sldChg chg="addSp delSp modSp mod">
        <pc:chgData name="Keshavamurthy YC" userId="bf6a1185fec05998" providerId="LiveId" clId="{8355D0B3-71DD-40A6-96C8-8B12F51E2007}" dt="2024-04-04T09:32:51.772" v="163" actId="1410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695017" y="2371033"/>
            <a:ext cx="7316458" cy="18907544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endParaRPr sz="1172" dirty="0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89"/>
            <a:ext cx="14861445" cy="224057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</a:t>
            </a:r>
          </a:p>
          <a:p>
            <a:pPr algn="ctr">
              <a:buClr>
                <a:schemeClr val="dk1"/>
              </a:buClr>
              <a:buSzPts val="4000"/>
            </a:pPr>
            <a:r>
              <a:rPr lang="en-IN" sz="2200" b="1" dirty="0" err="1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IIISemester</a:t>
            </a:r>
            <a:r>
              <a:rPr lang="en-IN" sz="22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Odd2025-2026|WorkSystems Design | IM233AI</a:t>
            </a:r>
          </a:p>
          <a:p>
            <a:pPr algn="ctr">
              <a:buClr>
                <a:schemeClr val="dk1"/>
              </a:buClr>
              <a:buSzPts val="4000"/>
            </a:pPr>
            <a:r>
              <a:rPr lang="en-IN" sz="22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Dr. Vikram N </a:t>
            </a:r>
            <a:r>
              <a:rPr lang="en-IN" sz="2200" b="1" dirty="0" err="1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Bahadurdesai|Prof.Shruthi</a:t>
            </a:r>
            <a:r>
              <a:rPr lang="en-IN" sz="22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M N | Dr. </a:t>
            </a:r>
            <a:r>
              <a:rPr lang="en-IN" sz="2200" b="1" dirty="0" err="1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Rajeswara</a:t>
            </a:r>
            <a:r>
              <a:rPr lang="en-IN" sz="22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Rao K V S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21186" y="1185961"/>
            <a:ext cx="12120998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Title: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AI-Based Ergonomic Measurement of Human Body</a:t>
            </a:r>
            <a:endParaRPr sz="2400" b="1" dirty="0">
              <a:solidFill>
                <a:schemeClr val="accent2">
                  <a:lumMod val="50000"/>
                </a:schemeClr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787155" y="1537645"/>
            <a:ext cx="9427544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Aryan Lodha | Harsh Jain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1RV24IM064 | 1RV24IM013</a:t>
            </a:r>
            <a:endParaRPr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86319" y="2365037"/>
            <a:ext cx="7519803" cy="18907543"/>
            <a:chOff x="26239879" y="8633719"/>
            <a:chExt cx="17964396" cy="28277704"/>
          </a:xfrm>
        </p:grpSpPr>
        <p:sp>
          <p:nvSpPr>
            <p:cNvPr id="131" name="Google Shape;131;p1"/>
            <p:cNvSpPr/>
            <p:nvPr/>
          </p:nvSpPr>
          <p:spPr>
            <a:xfrm>
              <a:off x="26239879" y="8633719"/>
              <a:ext cx="17964396" cy="28277704"/>
            </a:xfrm>
            <a:prstGeom prst="roundRect">
              <a:avLst>
                <a:gd name="adj" fmla="val 2556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38271" tIns="19130" rIns="38271" bIns="19130" anchor="ctr" anchorCtr="0">
              <a:noAutofit/>
            </a:bodyPr>
            <a:lstStyle/>
            <a:p>
              <a:pPr>
                <a:buClr>
                  <a:schemeClr val="dk1"/>
                </a:buClr>
                <a:buSzPts val="3600"/>
              </a:pPr>
              <a:endParaRPr lang="en-IN" sz="1507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>
                <a:buClr>
                  <a:schemeClr val="dk1"/>
                </a:buClr>
                <a:buSzPts val="3600"/>
              </a:pPr>
              <a:r>
                <a:rPr lang="en-IN" sz="1507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</a:t>
              </a:r>
              <a:endParaRPr sz="1507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0" name="Google Shape;150;p1"/>
            <p:cNvSpPr txBox="1"/>
            <p:nvPr/>
          </p:nvSpPr>
          <p:spPr>
            <a:xfrm>
              <a:off x="26608632" y="8760734"/>
              <a:ext cx="17344338" cy="494637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       Introduction</a:t>
              </a:r>
              <a:endParaRPr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7956" y="16165421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107875" y="11145387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Methodology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781177" y="2458588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Tools used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798572" y="9722511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 and Discussions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762764" y="17054710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212911" y="9280651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Objectives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43483" y="5463704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Problem Definition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7" name="Google Shape;149;p1">
            <a:extLst>
              <a:ext uri="{FF2B5EF4-FFF2-40B4-BE49-F238E27FC236}">
                <a16:creationId xmlns:a16="http://schemas.microsoft.com/office/drawing/2014/main" id="{ECCC3B4A-9606-90BB-BB04-2AC50E455D9E}"/>
              </a:ext>
            </a:extLst>
          </p:cNvPr>
          <p:cNvSpPr txBox="1"/>
          <p:nvPr/>
        </p:nvSpPr>
        <p:spPr>
          <a:xfrm>
            <a:off x="8590450" y="4037910"/>
            <a:ext cx="7008020" cy="336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798572" y="13757041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70" name="Rectangle 48" hidden="1">
            <a:extLst>
              <a:ext uri="{FF2B5EF4-FFF2-40B4-BE49-F238E27FC236}">
                <a16:creationId xmlns:a16="http://schemas.microsoft.com/office/drawing/2014/main" id="{D8EA3AE9-C772-77AB-97B6-86EF8539B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5119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and repeatable energy generation observed during every descent cycle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increased with mass up to an optimum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performance obtained at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 ≈ 1 kg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values achieved: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Imax⁡≈0.72 A,Pmax⁡≈0.74 W,ηmax⁡≈17.9%I_{\max} \approx 0.72\ \text{A}, \quad P_{\max} \approx 0.74\ \text{W}, \quad \eta_{\max} \approx 17.9\%Imax​≈0.72 A,Pmax​≈0.74 W,ηmax​≈17.9%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Beyond the optimum mass, performance reduced due to frictional and mechanical losses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sensing using Arduino + INA219 validated system behavior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CD9E7-A309-8DE4-FCE2-89B5E08B5742}"/>
              </a:ext>
            </a:extLst>
          </p:cNvPr>
          <p:cNvSpPr txBox="1"/>
          <p:nvPr/>
        </p:nvSpPr>
        <p:spPr>
          <a:xfrm>
            <a:off x="273428" y="5794459"/>
            <a:ext cx="72085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Accurate body measurement is </a:t>
            </a:r>
            <a:r>
              <a:rPr lang="en-US" b="1" dirty="0"/>
              <a:t>essential</a:t>
            </a:r>
            <a:r>
              <a:rPr lang="en-US" dirty="0"/>
              <a:t> in </a:t>
            </a:r>
            <a:r>
              <a:rPr lang="en-US" b="1" dirty="0"/>
              <a:t>ergonomics, healthcare, tailoring, </a:t>
            </a:r>
            <a:r>
              <a:rPr lang="en-US" dirty="0"/>
              <a:t>and</a:t>
            </a:r>
            <a:r>
              <a:rPr lang="en-US" b="1" dirty="0"/>
              <a:t> online shopping.</a:t>
            </a:r>
            <a:br>
              <a:rPr lang="en-US" b="1" dirty="0"/>
            </a:br>
            <a:r>
              <a:rPr lang="en-US" dirty="0"/>
              <a:t>However, current methods rely on </a:t>
            </a:r>
            <a:r>
              <a:rPr lang="en-US" b="1" dirty="0"/>
              <a:t>manual tools</a:t>
            </a:r>
            <a:r>
              <a:rPr lang="en-US" dirty="0"/>
              <a:t> such as </a:t>
            </a:r>
            <a:r>
              <a:rPr lang="en-US" b="1" dirty="0"/>
              <a:t>measuring</a:t>
            </a:r>
            <a:r>
              <a:rPr lang="en-US" dirty="0"/>
              <a:t> </a:t>
            </a:r>
            <a:r>
              <a:rPr lang="en-US" b="1" dirty="0"/>
              <a:t>tapes</a:t>
            </a:r>
            <a:r>
              <a:rPr lang="en-US" dirty="0"/>
              <a:t> and </a:t>
            </a:r>
            <a:r>
              <a:rPr lang="en-US" b="1" dirty="0"/>
              <a:t>stadiometers</a:t>
            </a:r>
            <a:r>
              <a:rPr lang="en-US" dirty="0"/>
              <a:t>.</a:t>
            </a:r>
          </a:p>
          <a:p>
            <a:r>
              <a:rPr lang="en-US" b="1" dirty="0"/>
              <a:t>These methods are:</a:t>
            </a:r>
          </a:p>
          <a:p>
            <a:r>
              <a:rPr lang="en-US" b="1" dirty="0"/>
              <a:t>-</a:t>
            </a:r>
            <a:r>
              <a:rPr lang="en-US" dirty="0"/>
              <a:t>Time-consuming      </a:t>
            </a:r>
            <a:r>
              <a:rPr lang="en-US" b="1" dirty="0"/>
              <a:t>-</a:t>
            </a:r>
            <a:r>
              <a:rPr lang="en-US" dirty="0"/>
              <a:t>Contact-based and uncomfortable    </a:t>
            </a:r>
          </a:p>
          <a:p>
            <a:r>
              <a:rPr lang="en-US" b="1" dirty="0"/>
              <a:t>-</a:t>
            </a:r>
            <a:r>
              <a:rPr lang="en-US" dirty="0"/>
              <a:t>Prone to human error         </a:t>
            </a:r>
            <a:r>
              <a:rPr lang="en-US" b="1" dirty="0"/>
              <a:t>-</a:t>
            </a:r>
            <a:r>
              <a:rPr lang="en-US" dirty="0"/>
              <a:t>Not scalable for large populations</a:t>
            </a:r>
          </a:p>
          <a:p>
            <a:r>
              <a:rPr lang="en-US" b="1" dirty="0"/>
              <a:t>-</a:t>
            </a:r>
            <a:r>
              <a:rPr lang="en-US" dirty="0"/>
              <a:t>Impractical for digital platforms like e-commerce</a:t>
            </a:r>
          </a:p>
          <a:p>
            <a:r>
              <a:rPr lang="en-US" dirty="0"/>
              <a:t>There is </a:t>
            </a:r>
            <a:r>
              <a:rPr lang="en-US" b="1" dirty="0"/>
              <a:t>no simple, low-cost, camera-based system</a:t>
            </a:r>
            <a:r>
              <a:rPr lang="en-US" dirty="0"/>
              <a:t> that can measure human body dimensions automatically in real-world units.</a:t>
            </a:r>
          </a:p>
          <a:p>
            <a:r>
              <a:rPr lang="en-US" dirty="0"/>
              <a:t>This project addresses this gap by creating an </a:t>
            </a:r>
            <a:r>
              <a:rPr lang="en-US" b="1" dirty="0"/>
              <a:t>AI-driven, contactless body measurement system</a:t>
            </a:r>
            <a:r>
              <a:rPr lang="en-US" dirty="0"/>
              <a:t> using only a webcam.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A6A7E4-46C0-66DB-08B3-EF48ECD00DE1}"/>
              </a:ext>
            </a:extLst>
          </p:cNvPr>
          <p:cNvSpPr txBox="1"/>
          <p:nvPr/>
        </p:nvSpPr>
        <p:spPr>
          <a:xfrm>
            <a:off x="290780" y="2791890"/>
            <a:ext cx="68416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Body measurement is required in e-commerce, medicine, tailoring, and ergonomics.</a:t>
            </a:r>
            <a:br>
              <a:rPr lang="en-US" dirty="0"/>
            </a:br>
            <a:r>
              <a:rPr lang="en-US" dirty="0"/>
              <a:t>Yet we still depend on slow and uncomfortable manual tools.</a:t>
            </a:r>
          </a:p>
          <a:p>
            <a:r>
              <a:rPr lang="en-US" dirty="0"/>
              <a:t>This project transforms a </a:t>
            </a:r>
            <a:r>
              <a:rPr lang="en-US" b="1" dirty="0"/>
              <a:t>normal camera into a measuring instrument</a:t>
            </a:r>
            <a:r>
              <a:rPr lang="en-US" dirty="0"/>
              <a:t> using AI.</a:t>
            </a:r>
            <a:br>
              <a:rPr lang="en-US" dirty="0"/>
            </a:br>
            <a:r>
              <a:rPr lang="en-US" dirty="0"/>
              <a:t>It enables </a:t>
            </a:r>
            <a:r>
              <a:rPr lang="en-US" b="1" dirty="0"/>
              <a:t>contactless, real-time body measurement in centimeters</a:t>
            </a:r>
            <a:r>
              <a:rPr lang="en-US" dirty="0"/>
              <a:t> using only a laptop webcam.</a:t>
            </a:r>
          </a:p>
          <a:p>
            <a:r>
              <a:rPr lang="en-US" dirty="0"/>
              <a:t>The goal is simple:</a:t>
            </a:r>
            <a:br>
              <a:rPr lang="en-US" dirty="0"/>
            </a:br>
            <a:r>
              <a:rPr lang="en-US" b="1" dirty="0"/>
              <a:t>Replace the measuring tape with a camera.</a:t>
            </a:r>
            <a:endParaRPr lang="en-US" dirty="0"/>
          </a:p>
          <a:p>
            <a:endParaRPr lang="en-IN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3DAEC939-7425-15DD-1930-A92D53344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911" y="9622096"/>
            <a:ext cx="66912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body measurement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camera-based dimension capture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pixels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centimeters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live ergonomic measurements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body measurement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7DD6DCF-A532-36B1-81AE-06E37C297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80" y="11541645"/>
            <a:ext cx="5734464" cy="76996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6DAC56-DFA1-8E2E-006B-A61C434CD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902" y="2960118"/>
            <a:ext cx="6931668" cy="65851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C5D5911-7387-C918-59E8-D2766B9F9D29}"/>
              </a:ext>
            </a:extLst>
          </p:cNvPr>
          <p:cNvSpPr txBox="1"/>
          <p:nvPr/>
        </p:nvSpPr>
        <p:spPr>
          <a:xfrm>
            <a:off x="7826397" y="10143063"/>
            <a:ext cx="7206634" cy="3832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</a:t>
            </a:r>
            <a:r>
              <a:rPr lang="en-US" b="1" dirty="0"/>
              <a:t>successfully measures human body dimensions </a:t>
            </a:r>
            <a:r>
              <a:rPr lang="en-US" dirty="0"/>
              <a:t>in real time using only a </a:t>
            </a:r>
            <a:r>
              <a:rPr lang="en-US" b="1" dirty="0"/>
              <a:t>laptop camera.</a:t>
            </a:r>
            <a:br>
              <a:rPr lang="en-US" dirty="0"/>
            </a:br>
            <a:r>
              <a:rPr lang="en-US" dirty="0"/>
              <a:t>All measurements </a:t>
            </a:r>
            <a:r>
              <a:rPr lang="en-US" b="1" dirty="0"/>
              <a:t>are displayed directly </a:t>
            </a:r>
            <a:r>
              <a:rPr lang="en-US" dirty="0"/>
              <a:t>in centimeters with an accuracy of about </a:t>
            </a:r>
            <a:r>
              <a:rPr lang="en-US" b="1" dirty="0"/>
              <a:t>±1–2 cm.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adapts to </a:t>
            </a:r>
            <a:r>
              <a:rPr lang="en-US" b="1" dirty="0"/>
              <a:t>different body types </a:t>
            </a:r>
            <a:r>
              <a:rPr lang="en-US" dirty="0"/>
              <a:t>and heights without any hardware change.</a:t>
            </a:r>
            <a:br>
              <a:rPr lang="en-US" dirty="0"/>
            </a:br>
            <a:r>
              <a:rPr lang="en-US" dirty="0"/>
              <a:t>It </a:t>
            </a:r>
            <a:r>
              <a:rPr lang="en-US" b="1" dirty="0"/>
              <a:t>eliminates</a:t>
            </a:r>
            <a:r>
              <a:rPr lang="en-US" dirty="0"/>
              <a:t> </a:t>
            </a:r>
            <a:r>
              <a:rPr lang="en-US" b="1" dirty="0"/>
              <a:t>physical contact </a:t>
            </a:r>
            <a:r>
              <a:rPr lang="en-US" dirty="0"/>
              <a:t>and </a:t>
            </a:r>
            <a:r>
              <a:rPr lang="en-US" b="1" dirty="0"/>
              <a:t>reduces human error </a:t>
            </a:r>
            <a:r>
              <a:rPr lang="en-US" dirty="0"/>
              <a:t>in manual measurement.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results prove that </a:t>
            </a:r>
            <a:r>
              <a:rPr lang="en-US" b="1" dirty="0"/>
              <a:t>computer vision and AI can replace traditional ergonomic tools</a:t>
            </a:r>
            <a:r>
              <a:rPr lang="en-US" dirty="0"/>
              <a:t>, making body measurement faster, safer, and digitally scalable for real-world applications such </a:t>
            </a:r>
            <a:r>
              <a:rPr lang="en-US" b="1" dirty="0"/>
              <a:t>as e-commerce, healthcare, and tailoring.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7BFFC-81CA-C2BF-BB26-3FEADAFE3176}"/>
              </a:ext>
            </a:extLst>
          </p:cNvPr>
          <p:cNvSpPr txBox="1"/>
          <p:nvPr/>
        </p:nvSpPr>
        <p:spPr>
          <a:xfrm>
            <a:off x="7757696" y="14172434"/>
            <a:ext cx="71792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demonstrates that a simple camera can be transformed into a </a:t>
            </a:r>
            <a:r>
              <a:rPr lang="en-US" b="1" dirty="0"/>
              <a:t>precise ergonomic instrument using AI.</a:t>
            </a:r>
            <a:br>
              <a:rPr lang="en-US" dirty="0"/>
            </a:br>
            <a:r>
              <a:rPr lang="en-US" dirty="0"/>
              <a:t>By combining </a:t>
            </a:r>
            <a:r>
              <a:rPr lang="en-US" b="1" dirty="0"/>
              <a:t>pose estimation with real-world calibration</a:t>
            </a:r>
            <a:r>
              <a:rPr lang="en-US" dirty="0"/>
              <a:t>, manual measuring tools become unnecessary.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system enables fast, contactless</a:t>
            </a:r>
            <a:r>
              <a:rPr lang="en-US" dirty="0"/>
              <a:t>, and </a:t>
            </a:r>
            <a:r>
              <a:rPr lang="en-US" b="1" dirty="0"/>
              <a:t>low-cost body measuremen</a:t>
            </a:r>
            <a:r>
              <a:rPr lang="en-US" dirty="0"/>
              <a:t>t for any user.</a:t>
            </a:r>
            <a:br>
              <a:rPr lang="en-US" dirty="0"/>
            </a:br>
            <a:r>
              <a:rPr lang="en-US" dirty="0"/>
              <a:t>It opens the path for </a:t>
            </a:r>
            <a:r>
              <a:rPr lang="en-US" b="1" dirty="0"/>
              <a:t>smart sizing systems </a:t>
            </a:r>
            <a:r>
              <a:rPr lang="en-US" dirty="0"/>
              <a:t>in online shopping, </a:t>
            </a:r>
            <a:r>
              <a:rPr lang="en-US" b="1" dirty="0"/>
              <a:t>automated clinical assessment</a:t>
            </a:r>
            <a:r>
              <a:rPr lang="en-US" dirty="0"/>
              <a:t>, and </a:t>
            </a:r>
            <a:r>
              <a:rPr lang="en-US" b="1" dirty="0"/>
              <a:t>digital ergonomics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future of human measurement is no longer manual—it is </a:t>
            </a:r>
            <a:r>
              <a:rPr lang="en-US" b="1" dirty="0"/>
              <a:t>intelligent, visual, and accessible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82802F-A555-A62C-869C-1B8BE4A7C5E9}"/>
              </a:ext>
            </a:extLst>
          </p:cNvPr>
          <p:cNvSpPr txBox="1"/>
          <p:nvPr/>
        </p:nvSpPr>
        <p:spPr>
          <a:xfrm>
            <a:off x="140766" y="19256277"/>
            <a:ext cx="75192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methodology image shows how </a:t>
            </a:r>
            <a:r>
              <a:rPr lang="en-US" b="1" dirty="0"/>
              <a:t>the system converts a live camera feed into measurable data</a:t>
            </a:r>
            <a:r>
              <a:rPr lang="en-US" dirty="0"/>
              <a:t>. It highlights fixed camera positioning, user alignment, and the use of a known height reference to calibrate pixels into real-world units</a:t>
            </a:r>
            <a:r>
              <a:rPr lang="en-US" b="1" dirty="0"/>
              <a:t>. AI detects key body landmarks and forms a skeletal model</a:t>
            </a:r>
            <a:r>
              <a:rPr lang="en-US" dirty="0"/>
              <a:t>, from which </a:t>
            </a:r>
            <a:r>
              <a:rPr lang="en-US" b="1" dirty="0"/>
              <a:t>all dimensions are computed. </a:t>
            </a:r>
            <a:r>
              <a:rPr lang="en-US" dirty="0"/>
              <a:t>Once calibrated, </a:t>
            </a:r>
            <a:r>
              <a:rPr lang="en-US" b="1" dirty="0"/>
              <a:t>every frame becomes a measurable space</a:t>
            </a:r>
            <a:r>
              <a:rPr lang="en-US" dirty="0"/>
              <a:t>, enabling continuous and contactless ergonomic assessment </a:t>
            </a:r>
            <a:r>
              <a:rPr lang="en-US" b="1" dirty="0"/>
              <a:t>without physical tools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EEA2F4A6-32AA-3F33-BFF7-83CFBFB15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396" y="17409617"/>
            <a:ext cx="712705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Lugaresi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C. et al.,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MediaPipe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Framework for Building Perception Pipelines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Google Research, 2019.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Google,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MediaPipe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Pose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Bradski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G.,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OpenCV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Dr. Dobb’s Journal, 2000.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ISO 7250-1:2017,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Basic Human Body Measurements for Technological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Pheasant, S.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Haslegrave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C.,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Bodyspace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Anthropometry and Ergonomics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2006.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Cao, Z.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Realtime 2D Pose Estimation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IEEE CVPR, 2017.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Shotton, J.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Human Pose 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IEEE, 2011.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Zhang, Z.,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Flexible New Technique for Camera Calibration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IEEE TPAMI, 2000.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Chen, Y. et al., </a:t>
            </a:r>
            <a:r>
              <a:rPr lang="en-US" i="1" dirty="0"/>
              <a:t>Vision-Based Human Body Measurement</a:t>
            </a:r>
            <a:r>
              <a:rPr lang="en-US" dirty="0"/>
              <a:t>, Elsevier, 2018.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562</TotalTime>
  <Words>790</Words>
  <Application>Microsoft Office PowerPoint</Application>
  <PresentationFormat>Custom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Georgia</vt:lpstr>
      <vt:lpstr>Playfair Display</vt:lpstr>
      <vt:lpstr>Trebuchet MS</vt:lpstr>
      <vt:lpstr>Calibri Light</vt:lpstr>
      <vt:lpstr>Tahoma</vt:lpstr>
      <vt:lpstr>Calibri</vt:lpstr>
      <vt:lpstr>Söhne</vt:lpstr>
      <vt:lpstr>Arial</vt:lpstr>
      <vt:lpstr>Bookman Old Style</vt:lpstr>
      <vt:lpstr>Times New Roman</vt:lpstr>
      <vt:lpstr>Comic Sans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aryannlodha@gmail.com</cp:lastModifiedBy>
  <cp:revision>27</cp:revision>
  <cp:lastPrinted>2024-01-29T05:31:42Z</cp:lastPrinted>
  <dcterms:created xsi:type="dcterms:W3CDTF">2020-07-26T16:54:19Z</dcterms:created>
  <dcterms:modified xsi:type="dcterms:W3CDTF">2026-01-27T10:33:16Z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